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Relationship Id="rId23" Type="http://schemas.openxmlformats.org/officeDocument/2006/relationships/font" Target="fonts/font7.fntdata"/><Relationship Id="rId24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2" Type="http://schemas.openxmlformats.org/officeDocument/2006/relationships/image" Target="../media/image-1004-2.png"/><Relationship Id="rId4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2" Type="http://schemas.openxmlformats.org/officeDocument/2006/relationships/image" Target="../media/image-1005-2.png"/><Relationship Id="rId4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2" Type="http://schemas.openxmlformats.org/officeDocument/2006/relationships/image" Target="../media/image-1006-2.png"/><Relationship Id="rId4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2" Type="http://schemas.openxmlformats.org/officeDocument/2006/relationships/image" Target="../media/image-1007-2.png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2" Type="http://schemas.openxmlformats.org/officeDocument/2006/relationships/image" Target="../media/image-1008-2.png"/><Relationship Id="rId4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2" Type="http://schemas.openxmlformats.org/officeDocument/2006/relationships/image" Target="../media/image-1009-2.png"/><Relationship Id="rId4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2" Type="http://schemas.openxmlformats.org/officeDocument/2006/relationships/image" Target="../media/image-1010-2.png"/><Relationship Id="rId4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2" Type="http://schemas.openxmlformats.org/officeDocument/2006/relationships/image" Target="../media/image-1011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A2A2D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A2A2D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A2A2D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A2A2D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A2A2D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A2A2D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A2A2D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A2A2D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A2A2D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A2A2D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8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9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sv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sv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image" Target="../media/image-10-10.svg"/><Relationship Id="rId11" Type="http://schemas.openxmlformats.org/officeDocument/2006/relationships/image" Target="../media/image-10-11.png"/><Relationship Id="rId12" Type="http://schemas.openxmlformats.org/officeDocument/2006/relationships/image" Target="../media/image-10-12.png"/><Relationship Id="rId13" Type="http://schemas.openxmlformats.org/officeDocument/2006/relationships/image" Target="../media/image-10-13.svg"/><Relationship Id="rId14" Type="http://schemas.openxmlformats.org/officeDocument/2006/relationships/slideLayout" Target="../slideLayouts/slideLayout11.xml"/><Relationship Id="rId15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3054429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CBCCCE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Customer Shopping Behavior Analysis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812149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Uncovering insights from 3,900 purchases to drive strategic decisions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64669" y="526733"/>
            <a:ext cx="4456867" cy="5569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350"/>
              </a:lnSpc>
              <a:buNone/>
            </a:pPr>
            <a:r>
              <a:rPr lang="en-US" sz="3500" dirty="0">
                <a:solidFill>
                  <a:srgbClr val="CBCCCE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Dataset Overview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1164669" y="1452920"/>
            <a:ext cx="3983593" cy="5882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600"/>
              </a:lnSpc>
              <a:buNone/>
            </a:pPr>
            <a:r>
              <a:rPr lang="en-US" sz="4600" dirty="0">
                <a:solidFill>
                  <a:srgbClr val="CFD0D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3,900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2042279" y="2235279"/>
            <a:ext cx="2228374" cy="2786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1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Transactions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1164669" y="2597944"/>
            <a:ext cx="3983593" cy="2545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Purchase records analyzed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323403" y="1452920"/>
            <a:ext cx="3983593" cy="5882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600"/>
              </a:lnSpc>
              <a:buNone/>
            </a:pPr>
            <a:r>
              <a:rPr lang="en-US" sz="4600" dirty="0">
                <a:solidFill>
                  <a:srgbClr val="CFD0D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18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6201013" y="2235279"/>
            <a:ext cx="2228374" cy="2786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1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Features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5323403" y="2597944"/>
            <a:ext cx="3983593" cy="2545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Data points per transaction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482138" y="1452920"/>
            <a:ext cx="3983593" cy="5882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600"/>
              </a:lnSpc>
              <a:buNone/>
            </a:pPr>
            <a:r>
              <a:rPr lang="en-US" sz="4600" dirty="0">
                <a:solidFill>
                  <a:srgbClr val="CFD0D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37</a:t>
            </a:r>
            <a:endParaRPr lang="en-US" sz="4600" dirty="0"/>
          </a:p>
        </p:txBody>
      </p:sp>
      <p:sp>
        <p:nvSpPr>
          <p:cNvPr id="10" name="Text 8"/>
          <p:cNvSpPr/>
          <p:nvPr/>
        </p:nvSpPr>
        <p:spPr>
          <a:xfrm>
            <a:off x="10359747" y="2235279"/>
            <a:ext cx="2228374" cy="2786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1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Missing Values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9482138" y="2597944"/>
            <a:ext cx="3983593" cy="2545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Review ratings imputed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64669" y="4761786"/>
            <a:ext cx="2228374" cy="2786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50" dirty="0">
                <a:solidFill>
                  <a:srgbClr val="CBCCCE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Key Features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1164669" y="5180409"/>
            <a:ext cx="4022646" cy="861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000"/>
              </a:lnSpc>
              <a:buSzPct val="100000"/>
              <a:buChar char="•"/>
            </a:pPr>
            <a:r>
              <a:rPr lang="en-US" sz="14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Demographics: Age, Gender, Location</a:t>
            </a:r>
            <a:endParaRPr lang="en-US" sz="1400" dirty="0"/>
          </a:p>
          <a:p>
            <a:pPr algn="l" marL="342900" indent="-342900">
              <a:lnSpc>
                <a:spcPts val="2000"/>
              </a:lnSpc>
              <a:buSzPct val="100000"/>
              <a:buChar char="•"/>
            </a:pPr>
            <a:r>
              <a:rPr lang="en-US" sz="14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Purchase details: Category, Amount, Season</a:t>
            </a:r>
            <a:endParaRPr lang="en-US" sz="1400" dirty="0"/>
          </a:p>
          <a:p>
            <a:pPr algn="l" marL="342900" indent="-342900">
              <a:lnSpc>
                <a:spcPts val="2000"/>
              </a:lnSpc>
              <a:buSzPct val="100000"/>
              <a:buChar char="•"/>
            </a:pPr>
            <a:r>
              <a:rPr lang="en-US" sz="14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Behavior: Discounts, Frequency, Ratings</a:t>
            </a:r>
            <a:endParaRPr lang="en-US" sz="140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29751" y="3167539"/>
            <a:ext cx="7843480" cy="437769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77741"/>
            <a:ext cx="677656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CBCCCE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Data Preparation Process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140148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Instrument Sans Light" pitchFamily="34" charset="0"/>
                <a:ea typeface="Instrument Sans Light" pitchFamily="34" charset="-122"/>
                <a:cs typeface="Instrument Sans Light" pitchFamily="34" charset="-120"/>
              </a:rPr>
              <a:t>01</a:t>
            </a:r>
            <a:endParaRPr lang="en-US" sz="17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2495193"/>
            <a:ext cx="6407944" cy="30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93790" y="266950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Data Loading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93790" y="3159919"/>
            <a:ext cx="640794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Imported using pandas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7428548" y="2140148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Instrument Sans Light" pitchFamily="34" charset="0"/>
                <a:ea typeface="Instrument Sans Light" pitchFamily="34" charset="-122"/>
                <a:cs typeface="Instrument Sans Light" pitchFamily="34" charset="-120"/>
              </a:rPr>
              <a:t>02</a:t>
            </a:r>
            <a:endParaRPr lang="en-US" sz="17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8548" y="2495193"/>
            <a:ext cx="6408063" cy="304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428548" y="266950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Exploration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7428548" y="3159919"/>
            <a:ext cx="640806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Checked structure and statistics</a:t>
            </a:r>
            <a:endParaRPr lang="en-US" sz="1750" dirty="0"/>
          </a:p>
        </p:txBody>
      </p:sp>
      <p:sp>
        <p:nvSpPr>
          <p:cNvPr id="11" name="Text 7"/>
          <p:cNvSpPr/>
          <p:nvPr/>
        </p:nvSpPr>
        <p:spPr>
          <a:xfrm>
            <a:off x="793790" y="3919657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Instrument Sans Light" pitchFamily="34" charset="0"/>
                <a:ea typeface="Instrument Sans Light" pitchFamily="34" charset="-122"/>
                <a:cs typeface="Instrument Sans Light" pitchFamily="34" charset="-120"/>
              </a:rPr>
              <a:t>03</a:t>
            </a:r>
            <a:endParaRPr lang="en-US" sz="17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4251960"/>
            <a:ext cx="6407944" cy="3048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93790" y="444900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Cleaning</a:t>
            </a:r>
            <a:endParaRPr lang="en-US" sz="2200" dirty="0"/>
          </a:p>
        </p:txBody>
      </p:sp>
      <p:sp>
        <p:nvSpPr>
          <p:cNvPr id="14" name="Text 9"/>
          <p:cNvSpPr/>
          <p:nvPr/>
        </p:nvSpPr>
        <p:spPr>
          <a:xfrm>
            <a:off x="793790" y="4939427"/>
            <a:ext cx="640794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Handled missing values</a:t>
            </a:r>
            <a:endParaRPr lang="en-US" sz="1750" dirty="0"/>
          </a:p>
        </p:txBody>
      </p:sp>
      <p:sp>
        <p:nvSpPr>
          <p:cNvPr id="15" name="Text 10"/>
          <p:cNvSpPr/>
          <p:nvPr/>
        </p:nvSpPr>
        <p:spPr>
          <a:xfrm>
            <a:off x="7428548" y="3919657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Instrument Sans Light" pitchFamily="34" charset="0"/>
                <a:ea typeface="Instrument Sans Light" pitchFamily="34" charset="-122"/>
                <a:cs typeface="Instrument Sans Light" pitchFamily="34" charset="-120"/>
              </a:rPr>
              <a:t>04</a:t>
            </a:r>
            <a:endParaRPr lang="en-US" sz="175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8548" y="4251960"/>
            <a:ext cx="6408063" cy="3048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428548" y="444900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Standardization</a:t>
            </a:r>
            <a:endParaRPr lang="en-US" sz="2200" dirty="0"/>
          </a:p>
        </p:txBody>
      </p:sp>
      <p:sp>
        <p:nvSpPr>
          <p:cNvPr id="18" name="Text 12"/>
          <p:cNvSpPr/>
          <p:nvPr/>
        </p:nvSpPr>
        <p:spPr>
          <a:xfrm>
            <a:off x="7428548" y="4939427"/>
            <a:ext cx="640806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Renamed to snake case</a:t>
            </a:r>
            <a:endParaRPr lang="en-US" sz="1750" dirty="0"/>
          </a:p>
        </p:txBody>
      </p:sp>
      <p:sp>
        <p:nvSpPr>
          <p:cNvPr id="19" name="Text 13"/>
          <p:cNvSpPr/>
          <p:nvPr/>
        </p:nvSpPr>
        <p:spPr>
          <a:xfrm>
            <a:off x="793790" y="5699165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Instrument Sans Light" pitchFamily="34" charset="0"/>
                <a:ea typeface="Instrument Sans Light" pitchFamily="34" charset="-122"/>
                <a:cs typeface="Instrument Sans Light" pitchFamily="34" charset="-120"/>
              </a:rPr>
              <a:t>05</a:t>
            </a:r>
            <a:endParaRPr lang="en-US" sz="1750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790" y="6008846"/>
            <a:ext cx="6407944" cy="3048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93790" y="622851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Feature Engineering</a:t>
            </a:r>
            <a:endParaRPr lang="en-US" sz="2200" dirty="0"/>
          </a:p>
        </p:txBody>
      </p:sp>
      <p:sp>
        <p:nvSpPr>
          <p:cNvPr id="22" name="Text 15"/>
          <p:cNvSpPr/>
          <p:nvPr/>
        </p:nvSpPr>
        <p:spPr>
          <a:xfrm>
            <a:off x="793790" y="6718935"/>
            <a:ext cx="640794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Created age groups and frequency</a:t>
            </a:r>
            <a:endParaRPr lang="en-US" sz="1750" dirty="0"/>
          </a:p>
        </p:txBody>
      </p:sp>
      <p:sp>
        <p:nvSpPr>
          <p:cNvPr id="23" name="Text 16"/>
          <p:cNvSpPr/>
          <p:nvPr/>
        </p:nvSpPr>
        <p:spPr>
          <a:xfrm>
            <a:off x="7428548" y="5699165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Instrument Sans Light" pitchFamily="34" charset="0"/>
                <a:ea typeface="Instrument Sans Light" pitchFamily="34" charset="-122"/>
                <a:cs typeface="Instrument Sans Light" pitchFamily="34" charset="-120"/>
              </a:rPr>
              <a:t>06</a:t>
            </a:r>
            <a:endParaRPr lang="en-US" sz="1750" dirty="0"/>
          </a:p>
        </p:txBody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28548" y="6008846"/>
            <a:ext cx="6408063" cy="3048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7428548" y="622851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Database Load</a:t>
            </a:r>
            <a:endParaRPr lang="en-US" sz="2200" dirty="0"/>
          </a:p>
        </p:txBody>
      </p:sp>
      <p:sp>
        <p:nvSpPr>
          <p:cNvPr id="26" name="Text 18"/>
          <p:cNvSpPr/>
          <p:nvPr/>
        </p:nvSpPr>
        <p:spPr>
          <a:xfrm>
            <a:off x="7428548" y="6718935"/>
            <a:ext cx="640806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Connected to PostgreSQL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35631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CBCCCE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Revenue by Gender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2588538" y="3872389"/>
            <a:ext cx="2789873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450"/>
              </a:lnSpc>
              <a:buNone/>
            </a:pPr>
            <a:r>
              <a:rPr lang="en-US" sz="4450" dirty="0">
                <a:solidFill>
                  <a:srgbClr val="CFD0D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73%</a:t>
            </a:r>
            <a:endParaRPr lang="en-US" sz="44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2428" y="2454712"/>
            <a:ext cx="3402330" cy="340233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565916" y="614052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Male Customers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93790" y="6630948"/>
            <a:ext cx="637960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$157,890 revenue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9251633" y="3872389"/>
            <a:ext cx="2789873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450"/>
              </a:lnSpc>
              <a:buNone/>
            </a:pPr>
            <a:r>
              <a:rPr lang="en-US" sz="4450" dirty="0">
                <a:solidFill>
                  <a:srgbClr val="CFD0D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27%</a:t>
            </a:r>
            <a:endParaRPr lang="en-US" sz="44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45523" y="2454712"/>
            <a:ext cx="3402330" cy="340233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229130" y="614052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Female Customers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7456884" y="6630948"/>
            <a:ext cx="637972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$75,191 revenue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726406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CBCCCE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Product Performance Insights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371094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BCCCE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Top-Rated Products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6280190" y="4292084"/>
            <a:ext cx="3501509" cy="21316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Font typeface="+mj-lt"/>
              <a:buAutoNum type="arabicPeriod" startAt="1"/>
            </a:pPr>
            <a:r>
              <a:rPr lang="en-US" sz="17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Gloves (3.86)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Font typeface="+mj-lt"/>
              <a:buAutoNum type="arabicPeriod" startAt="2"/>
            </a:pPr>
            <a:r>
              <a:rPr lang="en-US" sz="17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Sandals (3.84)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Font typeface="+mj-lt"/>
              <a:buAutoNum type="arabicPeriod" startAt="3"/>
            </a:pPr>
            <a:r>
              <a:rPr lang="en-US" sz="17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Boots (3.82)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Font typeface="+mj-lt"/>
              <a:buAutoNum type="arabicPeriod" startAt="4"/>
            </a:pPr>
            <a:r>
              <a:rPr lang="en-US" sz="17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Hat (3.80)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Font typeface="+mj-lt"/>
              <a:buAutoNum type="arabicPeriod" startAt="5"/>
            </a:pPr>
            <a:r>
              <a:rPr lang="en-US" sz="17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Skirt (3.78)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10342721" y="3710940"/>
            <a:ext cx="342852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BCCCE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Discount-Heavy Products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0342721" y="4292084"/>
            <a:ext cx="3501509" cy="21316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Font typeface="+mj-lt"/>
              <a:buAutoNum type="arabicPeriod" startAt="1"/>
            </a:pPr>
            <a:r>
              <a:rPr lang="en-US" sz="17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Hat (50%)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Font typeface="+mj-lt"/>
              <a:buAutoNum type="arabicPeriod" startAt="2"/>
            </a:pPr>
            <a:r>
              <a:rPr lang="en-US" sz="17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Sneakers (49.66%)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Font typeface="+mj-lt"/>
              <a:buAutoNum type="arabicPeriod" startAt="3"/>
            </a:pPr>
            <a:r>
              <a:rPr lang="en-US" sz="17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Coat (49.07%)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Font typeface="+mj-lt"/>
              <a:buAutoNum type="arabicPeriod" startAt="4"/>
            </a:pPr>
            <a:r>
              <a:rPr lang="en-US" sz="17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Sweater (48.17%)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Font typeface="+mj-lt"/>
              <a:buAutoNum type="arabicPeriod" startAt="5"/>
            </a:pPr>
            <a:r>
              <a:rPr lang="en-US" sz="17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Pants (47.37%)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618893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CBCCCE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Shipping &amp; Subscription Impact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3376613"/>
            <a:ext cx="3664744" cy="1685092"/>
          </a:xfrm>
          <a:prstGeom prst="roundRect">
            <a:avLst>
              <a:gd name="adj" fmla="val 5654"/>
            </a:avLst>
          </a:prstGeom>
          <a:solidFill>
            <a:srgbClr val="3D3D42"/>
          </a:solidFill>
          <a:ln w="7620">
            <a:solidFill>
              <a:srgbClr val="56565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28224" y="361104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Express Shipping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028224" y="4101465"/>
            <a:ext cx="319587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$60.48 average spend vs. $58.46 standard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4685348" y="3376613"/>
            <a:ext cx="3664863" cy="1685092"/>
          </a:xfrm>
          <a:prstGeom prst="roundRect">
            <a:avLst>
              <a:gd name="adj" fmla="val 5654"/>
            </a:avLst>
          </a:prstGeom>
          <a:solidFill>
            <a:srgbClr val="3D3D42"/>
          </a:solidFill>
          <a:ln w="7620">
            <a:solidFill>
              <a:srgbClr val="56565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919782" y="361104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Non-Subscribers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4919782" y="4101465"/>
            <a:ext cx="319599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2,847 customers, $170,436 total revenue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793790" y="5288518"/>
            <a:ext cx="7556421" cy="1322189"/>
          </a:xfrm>
          <a:prstGeom prst="roundRect">
            <a:avLst>
              <a:gd name="adj" fmla="val 7205"/>
            </a:avLst>
          </a:prstGeom>
          <a:solidFill>
            <a:srgbClr val="3D3D42"/>
          </a:solidFill>
          <a:ln w="7620">
            <a:solidFill>
              <a:srgbClr val="56565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28224" y="552295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Subscribers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028224" y="6013371"/>
            <a:ext cx="708755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1,053 customers, $62,645 total revenue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07413"/>
            <a:ext cx="660189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CBCCCE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Customer Segmentation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78348" y="2369820"/>
            <a:ext cx="2152055" cy="130694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94892" y="2985849"/>
            <a:ext cx="318968" cy="398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000"/>
              </a:lnSpc>
              <a:buNone/>
            </a:pPr>
            <a:r>
              <a:rPr lang="en-US" sz="2500" dirty="0">
                <a:solidFill>
                  <a:srgbClr val="CFD0D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1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5357217" y="2596634"/>
            <a:ext cx="163270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Loyal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5357217" y="3087053"/>
            <a:ext cx="163270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3,116 customers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5187077" y="3689866"/>
            <a:ext cx="8592860" cy="15240"/>
          </a:xfrm>
          <a:prstGeom prst="roundRect">
            <a:avLst>
              <a:gd name="adj" fmla="val 625116"/>
            </a:avLst>
          </a:prstGeom>
          <a:solidFill>
            <a:srgbClr val="56565B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2381" y="3733443"/>
            <a:ext cx="4304109" cy="130694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894892" y="4187547"/>
            <a:ext cx="318968" cy="398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000"/>
              </a:lnSpc>
              <a:buNone/>
            </a:pPr>
            <a:r>
              <a:rPr lang="en-US" sz="2500" dirty="0">
                <a:solidFill>
                  <a:srgbClr val="CFD0D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2</a:t>
            </a:r>
            <a:endParaRPr lang="en-US" sz="2500" dirty="0"/>
          </a:p>
        </p:txBody>
      </p:sp>
      <p:sp>
        <p:nvSpPr>
          <p:cNvPr id="10" name="Text 6"/>
          <p:cNvSpPr/>
          <p:nvPr/>
        </p:nvSpPr>
        <p:spPr>
          <a:xfrm>
            <a:off x="6433304" y="3960257"/>
            <a:ext cx="151888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Returning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6433304" y="4450675"/>
            <a:ext cx="151888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701 customers</a:t>
            </a:r>
            <a:endParaRPr lang="en-US" sz="1750" dirty="0"/>
          </a:p>
        </p:txBody>
      </p:sp>
      <p:sp>
        <p:nvSpPr>
          <p:cNvPr id="12" name="Shape 8"/>
          <p:cNvSpPr/>
          <p:nvPr/>
        </p:nvSpPr>
        <p:spPr>
          <a:xfrm>
            <a:off x="6263164" y="5053489"/>
            <a:ext cx="7516773" cy="15240"/>
          </a:xfrm>
          <a:prstGeom prst="roundRect">
            <a:avLst>
              <a:gd name="adj" fmla="val 625116"/>
            </a:avLst>
          </a:prstGeom>
          <a:solidFill>
            <a:srgbClr val="56565B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294" y="5097066"/>
            <a:ext cx="6456164" cy="1306949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894773" y="5551170"/>
            <a:ext cx="318968" cy="398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000"/>
              </a:lnSpc>
              <a:buNone/>
            </a:pPr>
            <a:r>
              <a:rPr lang="en-US" sz="2500" dirty="0">
                <a:solidFill>
                  <a:srgbClr val="CFD0D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3</a:t>
            </a:r>
            <a:endParaRPr lang="en-US" sz="2500" dirty="0"/>
          </a:p>
        </p:txBody>
      </p:sp>
      <p:sp>
        <p:nvSpPr>
          <p:cNvPr id="15" name="Text 10"/>
          <p:cNvSpPr/>
          <p:nvPr/>
        </p:nvSpPr>
        <p:spPr>
          <a:xfrm>
            <a:off x="7509272" y="5323880"/>
            <a:ext cx="142684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New</a:t>
            </a:r>
            <a:endParaRPr lang="en-US" sz="2200" dirty="0"/>
          </a:p>
        </p:txBody>
      </p:sp>
      <p:sp>
        <p:nvSpPr>
          <p:cNvPr id="16" name="Text 11"/>
          <p:cNvSpPr/>
          <p:nvPr/>
        </p:nvSpPr>
        <p:spPr>
          <a:xfrm>
            <a:off x="7509272" y="5814298"/>
            <a:ext cx="142684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83 customers</a:t>
            </a:r>
            <a:endParaRPr lang="en-US" sz="1750" dirty="0"/>
          </a:p>
        </p:txBody>
      </p:sp>
      <p:sp>
        <p:nvSpPr>
          <p:cNvPr id="17" name="Text 12"/>
          <p:cNvSpPr/>
          <p:nvPr/>
        </p:nvSpPr>
        <p:spPr>
          <a:xfrm>
            <a:off x="793790" y="665916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958 repeat buyers with &gt;5 purchases; 2,518 one-time customers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773198"/>
            <a:ext cx="603944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CBCCCE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Revenue by Age Group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3048953"/>
            <a:ext cx="5673685" cy="283488"/>
          </a:xfrm>
          <a:prstGeom prst="roundRect">
            <a:avLst>
              <a:gd name="adj" fmla="val 33606"/>
            </a:avLst>
          </a:prstGeom>
          <a:solidFill>
            <a:srgbClr val="3D3D42"/>
          </a:solidFill>
          <a:ln w="7620">
            <a:solidFill>
              <a:srgbClr val="56565B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3048953"/>
            <a:ext cx="1531858" cy="283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637496" y="3048953"/>
            <a:ext cx="53590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27%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93790" y="361580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Young Adult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793790" y="4106228"/>
            <a:ext cx="637960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$62,143 revenue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7456884" y="3048953"/>
            <a:ext cx="5673566" cy="283488"/>
          </a:xfrm>
          <a:prstGeom prst="roundRect">
            <a:avLst>
              <a:gd name="adj" fmla="val 33606"/>
            </a:avLst>
          </a:prstGeom>
          <a:solidFill>
            <a:srgbClr val="3D3D42"/>
          </a:solidFill>
          <a:ln w="7620">
            <a:solidFill>
              <a:srgbClr val="56565B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6884" y="3048953"/>
            <a:ext cx="1418392" cy="28348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300472" y="3048953"/>
            <a:ext cx="53613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25%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7456884" y="361580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Middle-aged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7456884" y="4106228"/>
            <a:ext cx="637972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$59,197 revenue</a:t>
            </a:r>
            <a:endParaRPr lang="en-US" sz="1750" dirty="0"/>
          </a:p>
        </p:txBody>
      </p:sp>
      <p:sp>
        <p:nvSpPr>
          <p:cNvPr id="13" name="Shape 9"/>
          <p:cNvSpPr/>
          <p:nvPr/>
        </p:nvSpPr>
        <p:spPr>
          <a:xfrm>
            <a:off x="793790" y="5036106"/>
            <a:ext cx="5667137" cy="283488"/>
          </a:xfrm>
          <a:prstGeom prst="roundRect">
            <a:avLst>
              <a:gd name="adj" fmla="val 33606"/>
            </a:avLst>
          </a:prstGeom>
          <a:solidFill>
            <a:srgbClr val="3D3D42"/>
          </a:solidFill>
          <a:ln w="7620">
            <a:solidFill>
              <a:srgbClr val="56565B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5036106"/>
            <a:ext cx="1360051" cy="28348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630948" y="5036106"/>
            <a:ext cx="542449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24%</a:t>
            </a:r>
            <a:endParaRPr lang="en-US" sz="2200" dirty="0"/>
          </a:p>
        </p:txBody>
      </p:sp>
      <p:sp>
        <p:nvSpPr>
          <p:cNvPr id="16" name="Text 11"/>
          <p:cNvSpPr/>
          <p:nvPr/>
        </p:nvSpPr>
        <p:spPr>
          <a:xfrm>
            <a:off x="793790" y="560296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Adult</a:t>
            </a:r>
            <a:endParaRPr lang="en-US" sz="2200" dirty="0"/>
          </a:p>
        </p:txBody>
      </p:sp>
      <p:sp>
        <p:nvSpPr>
          <p:cNvPr id="17" name="Text 12"/>
          <p:cNvSpPr/>
          <p:nvPr/>
        </p:nvSpPr>
        <p:spPr>
          <a:xfrm>
            <a:off x="793790" y="6093381"/>
            <a:ext cx="637960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$55,978 revenue</a:t>
            </a:r>
            <a:endParaRPr lang="en-US" sz="1750" dirty="0"/>
          </a:p>
        </p:txBody>
      </p:sp>
      <p:sp>
        <p:nvSpPr>
          <p:cNvPr id="18" name="Shape 13"/>
          <p:cNvSpPr/>
          <p:nvPr/>
        </p:nvSpPr>
        <p:spPr>
          <a:xfrm>
            <a:off x="7456884" y="5036106"/>
            <a:ext cx="5667256" cy="283488"/>
          </a:xfrm>
          <a:prstGeom prst="roundRect">
            <a:avLst>
              <a:gd name="adj" fmla="val 33606"/>
            </a:avLst>
          </a:prstGeom>
          <a:solidFill>
            <a:srgbClr val="3D3D42"/>
          </a:solidFill>
          <a:ln w="7620">
            <a:solidFill>
              <a:srgbClr val="56565B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6884" y="5036106"/>
            <a:ext cx="1360051" cy="28348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3294162" y="5036106"/>
            <a:ext cx="542449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24%</a:t>
            </a:r>
            <a:endParaRPr lang="en-US" sz="2200" dirty="0"/>
          </a:p>
        </p:txBody>
      </p:sp>
      <p:sp>
        <p:nvSpPr>
          <p:cNvPr id="21" name="Text 15"/>
          <p:cNvSpPr/>
          <p:nvPr/>
        </p:nvSpPr>
        <p:spPr>
          <a:xfrm>
            <a:off x="7456884" y="560296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Senior</a:t>
            </a:r>
            <a:endParaRPr lang="en-US" sz="2200" dirty="0"/>
          </a:p>
        </p:txBody>
      </p:sp>
      <p:sp>
        <p:nvSpPr>
          <p:cNvPr id="22" name="Text 16"/>
          <p:cNvSpPr/>
          <p:nvPr/>
        </p:nvSpPr>
        <p:spPr>
          <a:xfrm>
            <a:off x="7456884" y="6093381"/>
            <a:ext cx="637972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$55,763 revenue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746052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CBCCCE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Power BI Dashboard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80190" y="2794992"/>
            <a:ext cx="3664744" cy="2093714"/>
          </a:xfrm>
          <a:prstGeom prst="roundRect">
            <a:avLst>
              <a:gd name="adj" fmla="val 4550"/>
            </a:avLst>
          </a:prstGeom>
          <a:solidFill>
            <a:srgbClr val="2A2A2D">
              <a:alpha val="95000"/>
            </a:srgbClr>
          </a:solidFill>
          <a:ln w="30480">
            <a:solidFill>
              <a:srgbClr val="56565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537484" y="305228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Key Metrics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537484" y="3542705"/>
            <a:ext cx="315015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3.9K customers, $59.76 average purchase, 3.75 average rating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10171748" y="2794992"/>
            <a:ext cx="3664863" cy="2093714"/>
          </a:xfrm>
          <a:prstGeom prst="roundRect">
            <a:avLst>
              <a:gd name="adj" fmla="val 4550"/>
            </a:avLst>
          </a:prstGeom>
          <a:solidFill>
            <a:srgbClr val="2A2A2D">
              <a:alpha val="95000"/>
            </a:srgbClr>
          </a:solidFill>
          <a:ln w="30480">
            <a:solidFill>
              <a:srgbClr val="56565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429042" y="305228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Interactive Filters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0429042" y="3542705"/>
            <a:ext cx="315027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Subscription, Gender, Category, Shipping Type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6280190" y="5115520"/>
            <a:ext cx="7556421" cy="1367909"/>
          </a:xfrm>
          <a:prstGeom prst="roundRect">
            <a:avLst>
              <a:gd name="adj" fmla="val 6964"/>
            </a:avLst>
          </a:prstGeom>
          <a:solidFill>
            <a:srgbClr val="2A2A2D">
              <a:alpha val="95000"/>
            </a:srgbClr>
          </a:solidFill>
          <a:ln w="30480">
            <a:solidFill>
              <a:srgbClr val="56565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537484" y="537281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Visualizations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6537484" y="5863233"/>
            <a:ext cx="704183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Donut charts, bar charts by category and age group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04679" y="991195"/>
            <a:ext cx="4985385" cy="4627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900" dirty="0">
                <a:solidFill>
                  <a:srgbClr val="CBCCCE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Strategic Recommendations</a:t>
            </a:r>
            <a:endParaRPr lang="en-US" sz="2900" dirty="0"/>
          </a:p>
        </p:txBody>
      </p:sp>
      <p:sp>
        <p:nvSpPr>
          <p:cNvPr id="4" name="Shape 1"/>
          <p:cNvSpPr/>
          <p:nvPr/>
        </p:nvSpPr>
        <p:spPr>
          <a:xfrm>
            <a:off x="6004679" y="1599009"/>
            <a:ext cx="8107442" cy="1337310"/>
          </a:xfrm>
          <a:prstGeom prst="roundRect">
            <a:avLst>
              <a:gd name="adj" fmla="val 4652"/>
            </a:avLst>
          </a:prstGeom>
          <a:solidFill>
            <a:srgbClr val="3D3D42"/>
          </a:solidFill>
          <a:ln w="7620">
            <a:solidFill>
              <a:srgbClr val="56565B"/>
            </a:solidFill>
            <a:prstDash val="solid"/>
          </a:ln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0294" y="1754624"/>
            <a:ext cx="444222" cy="444222"/>
          </a:xfrm>
          <a:prstGeom prst="rect">
            <a:avLst/>
          </a:prstGeom>
        </p:spPr>
      </p:pic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82452" y="1876782"/>
            <a:ext cx="199906" cy="199906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6160294" y="2295525"/>
            <a:ext cx="1851303" cy="231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CFD0D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Boost Subscriptions</a:t>
            </a:r>
            <a:endParaRPr lang="en-US" sz="1450" dirty="0"/>
          </a:p>
        </p:txBody>
      </p:sp>
      <p:sp>
        <p:nvSpPr>
          <p:cNvPr id="8" name="Text 3"/>
          <p:cNvSpPr/>
          <p:nvPr/>
        </p:nvSpPr>
        <p:spPr>
          <a:xfrm>
            <a:off x="6160294" y="2584847"/>
            <a:ext cx="7796212" cy="1958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Promote exclusive benefits</a:t>
            </a:r>
            <a:endParaRPr lang="en-US" sz="1150" dirty="0"/>
          </a:p>
        </p:txBody>
      </p:sp>
      <p:sp>
        <p:nvSpPr>
          <p:cNvPr id="9" name="Shape 4"/>
          <p:cNvSpPr/>
          <p:nvPr/>
        </p:nvSpPr>
        <p:spPr>
          <a:xfrm>
            <a:off x="6004679" y="3032998"/>
            <a:ext cx="8107442" cy="1337310"/>
          </a:xfrm>
          <a:prstGeom prst="roundRect">
            <a:avLst>
              <a:gd name="adj" fmla="val 4652"/>
            </a:avLst>
          </a:prstGeom>
          <a:solidFill>
            <a:srgbClr val="3D3D42"/>
          </a:solidFill>
          <a:ln w="7620">
            <a:solidFill>
              <a:srgbClr val="56565B"/>
            </a:solidFill>
            <a:prstDash val="solid"/>
          </a:ln>
        </p:spPr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60294" y="3188613"/>
            <a:ext cx="444222" cy="444222"/>
          </a:xfrm>
          <a:prstGeom prst="rect">
            <a:avLst/>
          </a:prstGeom>
        </p:spPr>
      </p:pic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282452" y="3310771"/>
            <a:ext cx="199906" cy="199906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6160294" y="3729514"/>
            <a:ext cx="1851303" cy="231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CFD0D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Loyalty Programs</a:t>
            </a:r>
            <a:endParaRPr lang="en-US" sz="1450" dirty="0"/>
          </a:p>
        </p:txBody>
      </p:sp>
      <p:sp>
        <p:nvSpPr>
          <p:cNvPr id="13" name="Text 6"/>
          <p:cNvSpPr/>
          <p:nvPr/>
        </p:nvSpPr>
        <p:spPr>
          <a:xfrm>
            <a:off x="6160294" y="4018836"/>
            <a:ext cx="7796212" cy="1958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Reward repeat buyers</a:t>
            </a:r>
            <a:endParaRPr lang="en-US" sz="1150" dirty="0"/>
          </a:p>
        </p:txBody>
      </p:sp>
      <p:sp>
        <p:nvSpPr>
          <p:cNvPr id="14" name="Shape 7"/>
          <p:cNvSpPr/>
          <p:nvPr/>
        </p:nvSpPr>
        <p:spPr>
          <a:xfrm>
            <a:off x="6004679" y="4466987"/>
            <a:ext cx="8107442" cy="1337310"/>
          </a:xfrm>
          <a:prstGeom prst="roundRect">
            <a:avLst>
              <a:gd name="adj" fmla="val 4652"/>
            </a:avLst>
          </a:prstGeom>
          <a:solidFill>
            <a:srgbClr val="3D3D42"/>
          </a:solidFill>
          <a:ln w="7620">
            <a:solidFill>
              <a:srgbClr val="56565B"/>
            </a:solidFill>
            <a:prstDash val="solid"/>
          </a:ln>
        </p:spPr>
      </p:sp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60294" y="4622602"/>
            <a:ext cx="444222" cy="444222"/>
          </a:xfrm>
          <a:prstGeom prst="rect">
            <a:avLst/>
          </a:prstGeom>
        </p:spPr>
      </p:pic>
      <p:pic>
        <p:nvPicPr>
          <p:cNvPr id="16" name="Image 6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282452" y="4744760"/>
            <a:ext cx="199906" cy="199906"/>
          </a:xfrm>
          <a:prstGeom prst="rect">
            <a:avLst/>
          </a:prstGeom>
        </p:spPr>
      </p:pic>
      <p:sp>
        <p:nvSpPr>
          <p:cNvPr id="17" name="Text 8"/>
          <p:cNvSpPr/>
          <p:nvPr/>
        </p:nvSpPr>
        <p:spPr>
          <a:xfrm>
            <a:off x="6160294" y="5163503"/>
            <a:ext cx="2001679" cy="231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CFD0D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Review Discount Policy</a:t>
            </a:r>
            <a:endParaRPr lang="en-US" sz="1450" dirty="0"/>
          </a:p>
        </p:txBody>
      </p:sp>
      <p:sp>
        <p:nvSpPr>
          <p:cNvPr id="18" name="Text 9"/>
          <p:cNvSpPr/>
          <p:nvPr/>
        </p:nvSpPr>
        <p:spPr>
          <a:xfrm>
            <a:off x="6160294" y="5452824"/>
            <a:ext cx="7796212" cy="1958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Balance sales with margins</a:t>
            </a:r>
            <a:endParaRPr lang="en-US" sz="1150" dirty="0"/>
          </a:p>
        </p:txBody>
      </p:sp>
      <p:sp>
        <p:nvSpPr>
          <p:cNvPr id="19" name="Shape 10"/>
          <p:cNvSpPr/>
          <p:nvPr/>
        </p:nvSpPr>
        <p:spPr>
          <a:xfrm>
            <a:off x="6004679" y="5900976"/>
            <a:ext cx="8107442" cy="1337310"/>
          </a:xfrm>
          <a:prstGeom prst="roundRect">
            <a:avLst>
              <a:gd name="adj" fmla="val 4652"/>
            </a:avLst>
          </a:prstGeom>
          <a:solidFill>
            <a:srgbClr val="3D3D42"/>
          </a:solidFill>
          <a:ln w="7620">
            <a:solidFill>
              <a:srgbClr val="56565B"/>
            </a:solidFill>
            <a:prstDash val="solid"/>
          </a:ln>
        </p:spPr>
      </p:sp>
      <p:pic>
        <p:nvPicPr>
          <p:cNvPr id="20" name="Image 7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160294" y="6056590"/>
            <a:ext cx="444222" cy="444222"/>
          </a:xfrm>
          <a:prstGeom prst="rect">
            <a:avLst/>
          </a:prstGeom>
        </p:spPr>
      </p:pic>
      <p:pic>
        <p:nvPicPr>
          <p:cNvPr id="21" name="Image 8" descr="preencoded.png">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282452" y="6178748"/>
            <a:ext cx="199906" cy="199906"/>
          </a:xfrm>
          <a:prstGeom prst="rect">
            <a:avLst/>
          </a:prstGeom>
        </p:spPr>
      </p:pic>
      <p:sp>
        <p:nvSpPr>
          <p:cNvPr id="22" name="Text 11"/>
          <p:cNvSpPr/>
          <p:nvPr/>
        </p:nvSpPr>
        <p:spPr>
          <a:xfrm>
            <a:off x="6160294" y="6597491"/>
            <a:ext cx="1851303" cy="231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CFD0D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Targeted Marketing</a:t>
            </a:r>
            <a:endParaRPr lang="en-US" sz="1450" dirty="0"/>
          </a:p>
        </p:txBody>
      </p:sp>
      <p:sp>
        <p:nvSpPr>
          <p:cNvPr id="23" name="Text 12"/>
          <p:cNvSpPr/>
          <p:nvPr/>
        </p:nvSpPr>
        <p:spPr>
          <a:xfrm>
            <a:off x="6160294" y="6886813"/>
            <a:ext cx="7796212" cy="1958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Focus on high-revenue groups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2026-03-17T05:44:53Z</dcterms:created>
  <dcterms:modified xsi:type="dcterms:W3CDTF">2026-03-17T05:44:53Z</dcterms:modified>
</cp:coreProperties>
</file>